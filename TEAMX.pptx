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media/image1.png" ContentType="image/png"/>
  <Override PartName="/ppt/media/image2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337D282-0D5A-4FE1-8921-54FE0DF1A29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C7B938B-9E00-486C-BA89-958699BEF64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D1705BC-6680-4484-B369-5E3A539D426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E7E55DB-DD9B-4F7F-9E56-31580D8566D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D685B53-4FC1-4C51-A064-D613A2EF1CC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A6EB65D-8632-4B92-94B6-B5D99697778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36BECE9-EE9D-4975-8F0A-6EF749177D4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01894D3-6E89-46D1-B11B-F048383CBD1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4BB3F02-B02D-4C5C-BD70-B5E53B9BCA6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8330FEC-12A3-4A0C-8A70-D3C76076E1A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5B1B1A1-2719-4C0B-B72F-4CB4D93BB49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8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4BF2173-F796-471A-BD88-D3E404DF2BE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24841F9-246E-470A-A8F7-C4B24C24305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22FC8C4-0C11-4844-9351-DC79C5F8850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60F89AE-188A-4592-8FF3-86D91F30D4B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B47F361-75DD-43CA-94C6-A9B36989A04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5E7A8F4-D936-43D4-8808-88A65663CB1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717C427-ED0C-4EE9-B3F5-8DEF3A6B2C1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972041B-637A-4A58-A8E5-32D3381FAF8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5D2A22E-6544-490A-AC18-C4371207B8A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D495C6B-1F38-4818-B514-37497FB97A7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9732190-695B-4F19-A3E2-9DE0867D93A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E0FACF5-6736-48E7-A265-8ACCE338409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2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3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4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D85EBDD-4668-48EB-971A-13BD31A56BC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oogle Shape;17;p7"/>
          <p:cNvGrpSpPr/>
          <p:nvPr/>
        </p:nvGrpSpPr>
        <p:grpSpPr>
          <a:xfrm>
            <a:off x="0" y="758880"/>
            <a:ext cx="6098400" cy="6098400"/>
            <a:chOff x="0" y="758880"/>
            <a:chExt cx="6098400" cy="6098400"/>
          </a:xfrm>
        </p:grpSpPr>
        <p:sp>
          <p:nvSpPr>
            <p:cNvPr id="1" name="Google Shape;18;p7"/>
            <p:cNvSpPr/>
            <p:nvPr/>
          </p:nvSpPr>
          <p:spPr>
            <a:xfrm>
              <a:off x="0" y="758880"/>
              <a:ext cx="3072960" cy="4097520"/>
            </a:xfrm>
            <a:custGeom>
              <a:avLst/>
              <a:gdLst/>
              <a:ahLst/>
              <a:rect l="l" t="t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" name="Google Shape;19;p7"/>
            <p:cNvSpPr/>
            <p:nvPr/>
          </p:nvSpPr>
          <p:spPr>
            <a:xfrm>
              <a:off x="0" y="4862160"/>
              <a:ext cx="1995840" cy="1995120"/>
            </a:xfrm>
            <a:custGeom>
              <a:avLst/>
              <a:gdLst/>
              <a:ahLst/>
              <a:rect l="l" t="t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" name="Google Shape;20;p7"/>
            <p:cNvSpPr/>
            <p:nvPr/>
          </p:nvSpPr>
          <p:spPr>
            <a:xfrm>
              <a:off x="2097720" y="4857120"/>
              <a:ext cx="4000680" cy="2000160"/>
            </a:xfrm>
            <a:custGeom>
              <a:avLst/>
              <a:gdLst/>
              <a:ahLst/>
              <a:rect l="l" t="t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" name="Google Shape;22;p7"/>
          <p:cNvSpPr/>
          <p:nvPr/>
        </p:nvSpPr>
        <p:spPr>
          <a:xfrm>
            <a:off x="5839920" y="5784480"/>
            <a:ext cx="2133000" cy="3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01600">
            <a:solidFill>
              <a:srgbClr val="7ca655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24;p8"/>
          <p:cNvGrpSpPr/>
          <p:nvPr/>
        </p:nvGrpSpPr>
        <p:grpSpPr>
          <a:xfrm>
            <a:off x="720" y="3899880"/>
            <a:ext cx="2958480" cy="2958480"/>
            <a:chOff x="720" y="3899880"/>
            <a:chExt cx="2958480" cy="2958480"/>
          </a:xfrm>
        </p:grpSpPr>
        <p:sp>
          <p:nvSpPr>
            <p:cNvPr id="44" name="Google Shape;25;p8"/>
            <p:cNvSpPr/>
            <p:nvPr/>
          </p:nvSpPr>
          <p:spPr>
            <a:xfrm flipV="1" rot="16200000">
              <a:off x="1220040" y="5118480"/>
              <a:ext cx="1490400" cy="1987560"/>
            </a:xfrm>
            <a:custGeom>
              <a:avLst/>
              <a:gdLst/>
              <a:ahLst/>
              <a:rect l="l" t="t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" name="Google Shape;26;p8"/>
            <p:cNvSpPr/>
            <p:nvPr/>
          </p:nvSpPr>
          <p:spPr>
            <a:xfrm flipV="1" rot="16200000">
              <a:off x="360" y="5889960"/>
              <a:ext cx="968040" cy="967680"/>
            </a:xfrm>
            <a:custGeom>
              <a:avLst/>
              <a:gdLst/>
              <a:ahLst/>
              <a:rect l="l" t="t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" name="Google Shape;27;p8"/>
            <p:cNvSpPr/>
            <p:nvPr/>
          </p:nvSpPr>
          <p:spPr>
            <a:xfrm flipV="1" rot="16200000">
              <a:off x="-483840" y="4384800"/>
              <a:ext cx="1940760" cy="970200"/>
            </a:xfrm>
            <a:custGeom>
              <a:avLst/>
              <a:gdLst/>
              <a:ahLst/>
              <a:rect l="l" t="t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7" name="Google Shape;30;p8"/>
          <p:cNvSpPr/>
          <p:nvPr/>
        </p:nvSpPr>
        <p:spPr>
          <a:xfrm>
            <a:off x="952560" y="1938960"/>
            <a:ext cx="2133000" cy="3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01600">
            <a:solidFill>
              <a:srgbClr val="7ca655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PlaceHolder 1"/>
          <p:cNvSpPr>
            <a:spLocks noGrp="1"/>
          </p:cNvSpPr>
          <p:nvPr>
            <p:ph type="ftr" idx="1"/>
          </p:nvPr>
        </p:nvSpPr>
        <p:spPr>
          <a:xfrm>
            <a:off x="1494720" y="6332400"/>
            <a:ext cx="1496520" cy="24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lnSpc>
                <a:spcPct val="100000"/>
              </a:lnSpc>
              <a:buNone/>
              <a:defRPr b="0" lang="en-IN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ldNum" idx="2"/>
          </p:nvPr>
        </p:nvSpPr>
        <p:spPr>
          <a:xfrm>
            <a:off x="971640" y="6332400"/>
            <a:ext cx="522360" cy="24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1100" spc="-1" strike="noStrike">
                <a:solidFill>
                  <a:srgbClr val="000000"/>
                </a:solidFill>
                <a:latin typeface="Libre Franklin"/>
                <a:ea typeface="Libre Franklin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2AAF06CE-4398-4EE6-86AF-C29C120AC296}" type="slidenum">
              <a:rPr b="0" lang="en-US" sz="11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&lt;number&gt;</a:t>
            </a:fld>
            <a:endParaRPr b="0" lang="en-IN" sz="1100" spc="-1" strike="noStrike">
              <a:latin typeface="Times New Roman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dt" idx="3"/>
          </p:nvPr>
        </p:nvSpPr>
        <p:spPr>
          <a:xfrm>
            <a:off x="2991960" y="6332400"/>
            <a:ext cx="1312560" cy="24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37;p9"/>
          <p:cNvSpPr/>
          <p:nvPr/>
        </p:nvSpPr>
        <p:spPr>
          <a:xfrm>
            <a:off x="952560" y="1938960"/>
            <a:ext cx="2133000" cy="3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01600">
            <a:solidFill>
              <a:srgbClr val="7ca655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90" name="Google Shape;39;p9"/>
          <p:cNvGrpSpPr/>
          <p:nvPr/>
        </p:nvGrpSpPr>
        <p:grpSpPr>
          <a:xfrm>
            <a:off x="8870760" y="360"/>
            <a:ext cx="3324600" cy="3324960"/>
            <a:chOff x="8870760" y="360"/>
            <a:chExt cx="3324600" cy="3324960"/>
          </a:xfrm>
        </p:grpSpPr>
        <p:sp>
          <p:nvSpPr>
            <p:cNvPr id="91" name="Google Shape;40;p9"/>
            <p:cNvSpPr/>
            <p:nvPr/>
          </p:nvSpPr>
          <p:spPr>
            <a:xfrm rot="10800000">
              <a:off x="10520280" y="1091880"/>
              <a:ext cx="1675080" cy="2233440"/>
            </a:xfrm>
            <a:custGeom>
              <a:avLst/>
              <a:gdLst/>
              <a:ahLst/>
              <a:rect l="l" t="t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" name="Google Shape;41;p9"/>
            <p:cNvSpPr/>
            <p:nvPr/>
          </p:nvSpPr>
          <p:spPr>
            <a:xfrm rot="10800000">
              <a:off x="11107800" y="720"/>
              <a:ext cx="1087560" cy="1087560"/>
            </a:xfrm>
            <a:custGeom>
              <a:avLst/>
              <a:gdLst/>
              <a:ahLst/>
              <a:rect l="l" t="t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3" name="Google Shape;42;p9"/>
            <p:cNvSpPr/>
            <p:nvPr/>
          </p:nvSpPr>
          <p:spPr>
            <a:xfrm rot="10800000">
              <a:off x="8870760" y="0"/>
              <a:ext cx="2180880" cy="1090080"/>
            </a:xfrm>
            <a:custGeom>
              <a:avLst/>
              <a:gdLst/>
              <a:ahLst/>
              <a:rect l="l" t="t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94" name="PlaceHolder 1"/>
          <p:cNvSpPr>
            <a:spLocks noGrp="1"/>
          </p:cNvSpPr>
          <p:nvPr>
            <p:ph type="ftr" idx="4"/>
          </p:nvPr>
        </p:nvSpPr>
        <p:spPr>
          <a:xfrm>
            <a:off x="1494720" y="6332400"/>
            <a:ext cx="1496520" cy="24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lnSpc>
                <a:spcPct val="100000"/>
              </a:lnSpc>
              <a:buNone/>
              <a:defRPr b="0" lang="en-IN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ldNum" idx="5"/>
          </p:nvPr>
        </p:nvSpPr>
        <p:spPr>
          <a:xfrm>
            <a:off x="971640" y="6332400"/>
            <a:ext cx="522360" cy="24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1100" spc="-1" strike="noStrike">
                <a:solidFill>
                  <a:srgbClr val="000000"/>
                </a:solidFill>
                <a:latin typeface="Libre Franklin"/>
                <a:ea typeface="Libre Franklin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471C9BAD-04C3-49BB-A4DB-0B408E64561D}" type="slidenum">
              <a:rPr b="0" lang="en-US" sz="11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&lt;number&gt;</a:t>
            </a:fld>
            <a:endParaRPr b="0" lang="en-IN" sz="1100" spc="-1" strike="noStrike">
              <a:latin typeface="Times New Roman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dt" idx="6"/>
          </p:nvPr>
        </p:nvSpPr>
        <p:spPr>
          <a:xfrm>
            <a:off x="2991960" y="6332400"/>
            <a:ext cx="1312560" cy="24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9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5250240" y="148320"/>
            <a:ext cx="6460920" cy="115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00000"/>
                </a:solidFill>
                <a:latin typeface="Franklin Gothic"/>
                <a:ea typeface="Franklin Gothic"/>
              </a:rPr>
              <a:t>Basic Details of the Team and Problem Statement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4680000" y="1575720"/>
            <a:ext cx="7188840" cy="436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7ca655"/>
                </a:solidFill>
                <a:latin typeface="Franklin Gothic"/>
                <a:ea typeface="Franklin Gothic"/>
              </a:rPr>
              <a:t>Organization Name: Government of Maharashtra.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7ca655"/>
                </a:solidFill>
                <a:latin typeface="Franklin Gothic"/>
                <a:ea typeface="Franklin Gothic"/>
              </a:rPr>
              <a:t>PS Code:OS872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br/>
            <a:r>
              <a:rPr b="0" lang="en-US" sz="1800" spc="-1" strike="noStrike">
                <a:solidFill>
                  <a:srgbClr val="7ca655"/>
                </a:solidFill>
                <a:latin typeface="Franklin Gothic"/>
                <a:ea typeface="Franklin Gothic"/>
              </a:rPr>
              <a:t>Problem Statement Title: Real time tracking of students learning’s outcomes and their academic progress across schools.</a:t>
            </a:r>
            <a:br/>
            <a:endParaRPr b="0" lang="en-IN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7ca655"/>
                </a:solidFill>
                <a:latin typeface="Franklin Gothic"/>
                <a:ea typeface="Franklin Gothic"/>
              </a:rPr>
              <a:t>Team Name: TEAMX</a:t>
            </a:r>
            <a:br/>
            <a:r>
              <a:rPr b="0" lang="en-US" sz="1800" spc="-1" strike="noStrike">
                <a:solidFill>
                  <a:srgbClr val="7ca655"/>
                </a:solidFill>
                <a:latin typeface="Franklin Gothic"/>
                <a:ea typeface="Franklin Gothic"/>
              </a:rPr>
              <a:t>Team Leader Name: Ahmad Rafi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br/>
            <a:r>
              <a:rPr b="0" lang="en-US" sz="1800" spc="-1" strike="noStrike">
                <a:solidFill>
                  <a:srgbClr val="7ca655"/>
                </a:solidFill>
                <a:latin typeface="Franklin Gothic"/>
                <a:ea typeface="Franklin Gothic"/>
              </a:rPr>
              <a:t>Institute Code (AISHE): </a:t>
            </a:r>
            <a:br/>
            <a:r>
              <a:rPr b="0" lang="en-US" sz="1800" spc="-1" strike="noStrike">
                <a:solidFill>
                  <a:srgbClr val="7ca655"/>
                </a:solidFill>
                <a:latin typeface="Franklin Gothic"/>
                <a:ea typeface="Franklin Gothic"/>
              </a:rPr>
              <a:t>Institute Name: INDIAN INSTITUTE OF INFORMATION TECHNOLOGY, Allahabad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7ca655"/>
                </a:solidFill>
                <a:latin typeface="Franklin Gothic"/>
                <a:ea typeface="Franklin Gothic"/>
              </a:rPr>
              <a:t>Theme Name:Smart Education</a:t>
            </a:r>
            <a:endParaRPr b="0" lang="en-IN" sz="1800" spc="-1" strike="noStrike">
              <a:latin typeface="Arial"/>
            </a:endParaRPr>
          </a:p>
        </p:txBody>
      </p:sp>
      <p:pic>
        <p:nvPicPr>
          <p:cNvPr id="137" name="Google Shape;212;p1" descr=""/>
          <p:cNvPicPr/>
          <p:nvPr/>
        </p:nvPicPr>
        <p:blipFill>
          <a:blip r:embed="rId1"/>
          <a:stretch/>
        </p:blipFill>
        <p:spPr>
          <a:xfrm>
            <a:off x="1036440" y="252360"/>
            <a:ext cx="3430440" cy="1473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964080" y="879120"/>
            <a:ext cx="5533560" cy="61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 fontScale="84000"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0000"/>
                </a:solidFill>
                <a:latin typeface="Franklin Gothic"/>
                <a:ea typeface="Franklin Gothic"/>
              </a:rPr>
              <a:t>Idea/Approach Details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971640" y="2289240"/>
            <a:ext cx="6023160" cy="287676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7ca655"/>
                </a:solidFill>
                <a:latin typeface="Franklin Gothic"/>
                <a:ea typeface="Franklin Gothic"/>
              </a:rPr>
              <a:t>Describe your idea here:</a:t>
            </a:r>
            <a:endParaRPr b="0" lang="en-IN" sz="18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Noto Sans Symbols"/>
              <a:buChar char="⮚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A full scale performance recording system</a:t>
            </a:r>
            <a:endParaRPr b="0" lang="en-IN" sz="16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Noto Sans Symbols"/>
              <a:buChar char="⮚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Accessible from mobile </a:t>
            </a:r>
            <a:endParaRPr b="0" lang="en-IN" sz="16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Noto Sans Symbols"/>
              <a:buChar char="⮚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Teachers and parents can acess</a:t>
            </a:r>
            <a:endParaRPr b="0" lang="en-IN" sz="16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Noto Sans Symbols"/>
              <a:buChar char="⮚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Compares and Analyses through out the state</a:t>
            </a:r>
            <a:endParaRPr b="0" lang="en-IN" sz="16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Noto Sans Symbols"/>
              <a:buChar char="⮚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Generates reliable feedback</a:t>
            </a:r>
            <a:endParaRPr b="0" lang="en-IN" sz="16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Noto Sans Symbols"/>
              <a:buChar char="⮚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Personalized attention through </a:t>
            </a:r>
            <a:endParaRPr b="0" lang="en-IN" sz="1600" spc="-1" strike="noStrike">
              <a:latin typeface="Arial"/>
            </a:endParaRPr>
          </a:p>
          <a:p>
            <a:pPr marL="285840" indent="-18432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1600" spc="-1" strike="noStrike"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sldNum" idx="7"/>
          </p:nvPr>
        </p:nvSpPr>
        <p:spPr>
          <a:xfrm>
            <a:off x="971640" y="6332400"/>
            <a:ext cx="522360" cy="24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1100" spc="-1" strike="noStrike">
                <a:solidFill>
                  <a:srgbClr val="000000"/>
                </a:solidFill>
                <a:latin typeface="Libre Franklin"/>
                <a:ea typeface="Libre Franklin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2676702C-03E5-4540-979D-524041BD378D}" type="slidenum">
              <a:rPr b="0" lang="en-US" sz="11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&lt;number&gt;</a:t>
            </a:fld>
            <a:endParaRPr b="0" lang="en-IN" sz="1100" spc="-1" strike="noStrike">
              <a:latin typeface="Times New Roman"/>
            </a:endParaRPr>
          </a:p>
        </p:txBody>
      </p:sp>
      <p:sp>
        <p:nvSpPr>
          <p:cNvPr id="141" name="Google Shape;222;p2"/>
          <p:cNvSpPr/>
          <p:nvPr/>
        </p:nvSpPr>
        <p:spPr>
          <a:xfrm>
            <a:off x="7378560" y="3820680"/>
            <a:ext cx="4571280" cy="2758320"/>
          </a:xfrm>
          <a:prstGeom prst="rect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7ca655"/>
                </a:solidFill>
                <a:latin typeface="Franklin Gothic"/>
                <a:ea typeface="Franklin Gothic"/>
              </a:rPr>
              <a:t>Describe your Technology stack here</a:t>
            </a:r>
            <a:r>
              <a:rPr b="0" lang="en-US" sz="16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:</a:t>
            </a:r>
            <a:endParaRPr b="0" lang="en-IN" sz="16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Noto Sans Symbols"/>
              <a:buChar char="⮚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An android application for teachers and students</a:t>
            </a:r>
            <a:endParaRPr b="0" lang="en-IN" sz="16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Noto Sans Symbols"/>
              <a:buChar char="⮚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A server backend based on Node.js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1600" spc="-1" strike="noStrike">
              <a:latin typeface="Arial"/>
            </a:endParaRPr>
          </a:p>
        </p:txBody>
      </p:sp>
      <p:pic>
        <p:nvPicPr>
          <p:cNvPr id="142" name="" descr=""/>
          <p:cNvPicPr/>
          <p:nvPr/>
        </p:nvPicPr>
        <p:blipFill>
          <a:blip r:embed="rId1"/>
          <a:srcRect l="0" t="0" r="0" b="65876"/>
          <a:stretch/>
        </p:blipFill>
        <p:spPr>
          <a:xfrm>
            <a:off x="7920000" y="900360"/>
            <a:ext cx="3277080" cy="233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952560" y="1096200"/>
            <a:ext cx="5780160" cy="61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 fontScale="92000"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0000"/>
                </a:solidFill>
                <a:latin typeface="Franklin Gothic"/>
                <a:ea typeface="Franklin Gothic"/>
              </a:rPr>
              <a:t>Idea/Approach Details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952560" y="2286000"/>
            <a:ext cx="4838040" cy="315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7ca655"/>
                </a:solidFill>
                <a:latin typeface="Franklin Gothic"/>
                <a:ea typeface="Franklin Gothic"/>
              </a:rPr>
              <a:t>Describe your Use Cases here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/>
          </p:nvPr>
        </p:nvSpPr>
        <p:spPr>
          <a:xfrm>
            <a:off x="952560" y="2656800"/>
            <a:ext cx="4838040" cy="392220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txBody>
          <a:bodyPr lIns="90000" rIns="90000" tIns="45000" bIns="45000" anchor="t">
            <a:noAutofit/>
          </a:bodyPr>
          <a:p>
            <a:pPr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Can be used to store marks for every possible assessment</a:t>
            </a:r>
            <a:endParaRPr b="0" lang="en-IN" sz="1800" spc="-1" strike="noStrike">
              <a:latin typeface="Arial"/>
            </a:endParaRPr>
          </a:p>
          <a:p>
            <a:pPr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Special care given to extra-curriculars to generalise the marking across different venues</a:t>
            </a:r>
            <a:endParaRPr b="0" lang="en-IN" sz="1800" spc="-1" strike="noStrike">
              <a:latin typeface="Arial"/>
            </a:endParaRPr>
          </a:p>
          <a:p>
            <a:pPr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Students can get updates and feedback on their performance immediately</a:t>
            </a:r>
            <a:endParaRPr b="0" lang="en-IN" sz="1800" spc="-1" strike="noStrike">
              <a:latin typeface="Arial"/>
            </a:endParaRPr>
          </a:p>
          <a:p>
            <a:pPr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Teachers and students can get an understanding of their performance in comparision to every other student i the statement.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 type="sldNum" idx="8"/>
          </p:nvPr>
        </p:nvSpPr>
        <p:spPr>
          <a:xfrm>
            <a:off x="971640" y="6332400"/>
            <a:ext cx="522360" cy="24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1100" spc="-1" strike="noStrike">
                <a:solidFill>
                  <a:srgbClr val="000000"/>
                </a:solidFill>
                <a:latin typeface="Libre Franklin"/>
                <a:ea typeface="Libre Franklin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B25F8345-C96A-4C40-8818-7AF32C1F493D}" type="slidenum">
              <a:rPr b="0" lang="en-US" sz="11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&lt;number&gt;</a:t>
            </a:fld>
            <a:endParaRPr b="0" lang="en-IN" sz="1100" spc="-1" strike="noStrike">
              <a:latin typeface="Times New Roman"/>
            </a:endParaRPr>
          </a:p>
        </p:txBody>
      </p:sp>
      <p:sp>
        <p:nvSpPr>
          <p:cNvPr id="147" name="Google Shape;231;p3"/>
          <p:cNvSpPr/>
          <p:nvPr/>
        </p:nvSpPr>
        <p:spPr>
          <a:xfrm>
            <a:off x="6095880" y="2286000"/>
            <a:ext cx="5142960" cy="31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7ca655"/>
                </a:solidFill>
                <a:latin typeface="Franklin Gothic"/>
                <a:ea typeface="Franklin Gothic"/>
              </a:rPr>
              <a:t>Describe your Dependencies / Show stopper here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8" name="Google Shape;232;p3"/>
          <p:cNvSpPr/>
          <p:nvPr/>
        </p:nvSpPr>
        <p:spPr>
          <a:xfrm>
            <a:off x="6300000" y="2880000"/>
            <a:ext cx="4838040" cy="3600000"/>
          </a:xfrm>
          <a:prstGeom prst="rect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85840" indent="-285840">
              <a:lnSpc>
                <a:spcPct val="90000"/>
              </a:lnSpc>
              <a:buClr>
                <a:srgbClr val="000000"/>
              </a:buClr>
              <a:buFont typeface="Noto Sans Symbols"/>
              <a:buChar char="⮚"/>
            </a:pPr>
            <a:r>
              <a:rPr b="0" lang="en-US" sz="16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To implement this app on a large scale we need a server network.</a:t>
            </a:r>
            <a:endParaRPr b="0" lang="en-IN" sz="1600" spc="-1" strike="noStrike">
              <a:latin typeface="Arial"/>
            </a:endParaRPr>
          </a:p>
          <a:p>
            <a:pPr marL="285840" indent="-285840">
              <a:lnSpc>
                <a:spcPct val="90000"/>
              </a:lnSpc>
              <a:buClr>
                <a:srgbClr val="000000"/>
              </a:buClr>
              <a:buFont typeface="Noto Sans Symbols"/>
              <a:buChar char="⮚"/>
            </a:pPr>
            <a:endParaRPr b="0" lang="en-IN" sz="1600" spc="-1" strike="noStrike">
              <a:latin typeface="Arial"/>
            </a:endParaRPr>
          </a:p>
          <a:p>
            <a:pPr marL="285840" indent="-285840">
              <a:lnSpc>
                <a:spcPct val="90000"/>
              </a:lnSpc>
              <a:buClr>
                <a:srgbClr val="000000"/>
              </a:buClr>
              <a:buFont typeface="Noto Sans Symbols"/>
              <a:buChar char="⮚"/>
            </a:pPr>
            <a:r>
              <a:rPr b="0" lang="en-US" sz="16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Teachers and students need to have a stable internet connection to acsess the information</a:t>
            </a:r>
            <a:endParaRPr b="0" lang="en-IN" sz="1600" spc="-1" strike="noStrike">
              <a:latin typeface="Arial"/>
            </a:endParaRPr>
          </a:p>
          <a:p>
            <a:pPr marL="285840" indent="-285840">
              <a:lnSpc>
                <a:spcPct val="90000"/>
              </a:lnSpc>
              <a:buClr>
                <a:srgbClr val="000000"/>
              </a:buClr>
              <a:buFont typeface="Noto Sans Symbols"/>
              <a:buChar char="⮚"/>
            </a:pPr>
            <a:endParaRPr b="0" lang="en-IN" sz="1600" spc="-1" strike="noStrike">
              <a:latin typeface="Arial"/>
            </a:endParaRPr>
          </a:p>
          <a:p>
            <a:pPr marL="285840" indent="-285840">
              <a:lnSpc>
                <a:spcPct val="90000"/>
              </a:lnSpc>
              <a:buClr>
                <a:srgbClr val="000000"/>
              </a:buClr>
              <a:buFont typeface="Noto Sans Symbols"/>
              <a:buChar char="⮚"/>
            </a:pPr>
            <a:r>
              <a:rPr b="0" lang="en-US" sz="16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This app will depend upon the demographic data of Maharastra government school including information of no. of schools situated, name of the students and other related information.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964080" y="879120"/>
            <a:ext cx="6616800" cy="61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0000"/>
                </a:solidFill>
                <a:latin typeface="Franklin Gothic"/>
                <a:ea typeface="Franklin Gothic"/>
              </a:rPr>
              <a:t>Team Member Details 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964080" y="2062080"/>
            <a:ext cx="11144520" cy="471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5d7c3f"/>
                </a:solidFill>
                <a:latin typeface="Libre Franklin"/>
                <a:ea typeface="Libre Franklin"/>
              </a:rPr>
              <a:t>Team Leader Name: Ahmad Rafi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Branch :        Btech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Stream (ECE, CSE etc):    ECE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Year (I,II,III,IV): I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5d7c3f"/>
                </a:solidFill>
                <a:latin typeface="Libre Franklin"/>
                <a:ea typeface="Libre Franklin"/>
              </a:rPr>
              <a:t>Team Member 1 Name: Farhan Haider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Branch :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Btech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Stream (ECE, CSE etc):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ECE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Year (I,II,III,IV): I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5d7c3f"/>
                </a:solidFill>
                <a:latin typeface="Libre Franklin"/>
                <a:ea typeface="Libre Franklin"/>
              </a:rPr>
              <a:t>Team Member 2 Name: Mohd Kaif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Branch :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Btech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Stream (ECE, CSE etc):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ECE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Year (I,II,III,IV): I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5d7c3f"/>
                </a:solidFill>
                <a:latin typeface="Libre Franklin"/>
                <a:ea typeface="Libre Franklin"/>
              </a:rPr>
              <a:t>Team Member 3 Name: Ram Santhosh Patnaik Belagam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Branch :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Btech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Stream (ECE, CSE etc):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ECE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Year (I,II,III,IV): I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5d7c3f"/>
                </a:solidFill>
                <a:latin typeface="Libre Franklin"/>
                <a:ea typeface="Libre Franklin"/>
              </a:rPr>
              <a:t>Team Member 4 Name: Kusum Chandra Kumar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Branch :        Btech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Stream (ECE, CSE etc):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ECE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Year (I,II,III,IV): I 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5d7c3f"/>
                </a:solidFill>
                <a:latin typeface="Libre Franklin"/>
                <a:ea typeface="Libre Franklin"/>
              </a:rPr>
              <a:t>Team Member 5 Name: Neha Meena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Branch :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 Btech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Stream (ECE, CSE etc):      ECE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Year (I,II,III,IV): I 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804160"/>
                </a:solidFill>
                <a:latin typeface="Libre Franklin"/>
                <a:ea typeface="Libre Franklin"/>
              </a:rPr>
              <a:t>Team Mentor 1 Name: Type Your Name Here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Category (Academic/Industry): 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Expertise (AI/ML/Blockchain etc): 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Domain Experience (in years):    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804160"/>
                </a:solidFill>
                <a:latin typeface="Libre Franklin"/>
                <a:ea typeface="Libre Franklin"/>
              </a:rPr>
              <a:t>Team Mentor 2 Name: Type Your Name Here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Category (Academic/Industry):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Expertise (AI/ML/Blockchain etc): 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Domain Experience (in years):    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964080" y="879120"/>
            <a:ext cx="4940640" cy="61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 fontScale="91000"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0000"/>
                </a:solidFill>
                <a:latin typeface="Franklin Gothic"/>
                <a:ea typeface="Franklin Gothic"/>
              </a:rPr>
              <a:t>Important Pointers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952560" y="2286000"/>
            <a:ext cx="4838040" cy="315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7ca655"/>
                </a:solidFill>
                <a:latin typeface="Franklin Gothic"/>
                <a:ea typeface="Franklin Gothic"/>
              </a:rPr>
              <a:t>Please ensure below pointers are met while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/>
          </p:nvPr>
        </p:nvSpPr>
        <p:spPr>
          <a:xfrm>
            <a:off x="952560" y="2656800"/>
            <a:ext cx="10571760" cy="392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85840" indent="-285840">
              <a:lnSpc>
                <a:spcPct val="90000"/>
              </a:lnSpc>
              <a:buClr>
                <a:srgbClr val="000000"/>
              </a:buClr>
              <a:buFont typeface="Noto Sans Symbols"/>
              <a:buChar char="⮚"/>
            </a:pPr>
            <a:r>
              <a:rPr b="0" lang="en-US" sz="16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Kindly keep the maximum slides limit to 4 pages</a:t>
            </a:r>
            <a:endParaRPr b="0" lang="en-IN" sz="1600" spc="-1" strike="noStrike">
              <a:latin typeface="Arial"/>
            </a:endParaRPr>
          </a:p>
          <a:p>
            <a:pPr marL="285840" indent="-2858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Noto Sans Symbols"/>
              <a:buChar char="⮚"/>
            </a:pPr>
            <a:r>
              <a:rPr b="0" lang="en-US" sz="16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All the topics should be utilized for description of your idea</a:t>
            </a:r>
            <a:endParaRPr b="0" lang="en-IN" sz="1600" spc="-1" strike="noStrike">
              <a:latin typeface="Arial"/>
            </a:endParaRPr>
          </a:p>
          <a:p>
            <a:pPr marL="285840" indent="-2858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Noto Sans Symbols"/>
              <a:buChar char="⮚"/>
            </a:pPr>
            <a:r>
              <a:rPr b="0" lang="en-US" sz="16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Try to avoid paragraphs and post your idea in points</a:t>
            </a:r>
            <a:endParaRPr b="0" lang="en-IN" sz="1600" spc="-1" strike="noStrike">
              <a:latin typeface="Arial"/>
            </a:endParaRPr>
          </a:p>
          <a:p>
            <a:pPr marL="285840" indent="-2858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Noto Sans Symbols"/>
              <a:buChar char="⮚"/>
            </a:pPr>
            <a:r>
              <a:rPr b="0" lang="en-US" sz="16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Keep your explanation precisely and easy to understand</a:t>
            </a:r>
            <a:endParaRPr b="0" lang="en-IN" sz="1600" spc="-1" strike="noStrike">
              <a:latin typeface="Arial"/>
            </a:endParaRPr>
          </a:p>
          <a:p>
            <a:pPr marL="285840" indent="-2858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Noto Sans Symbols"/>
              <a:buChar char="⮚"/>
            </a:pPr>
            <a:r>
              <a:rPr b="0" lang="en-US" sz="16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Idea should be unique and novel. If it has a business potential more weightage will be given. </a:t>
            </a:r>
            <a:endParaRPr b="0" lang="en-IN" sz="1600" spc="-1" strike="noStrike">
              <a:latin typeface="Arial"/>
            </a:endParaRPr>
          </a:p>
          <a:p>
            <a:pPr marL="285840" indent="-2858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Noto Sans Symbols"/>
              <a:buChar char="⮚"/>
            </a:pPr>
            <a:r>
              <a:rPr b="0" lang="en-US" sz="16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Apart from this PPT abstract of your idea will be asked separately while submitting</a:t>
            </a:r>
            <a:endParaRPr b="0" lang="en-IN" sz="1600" spc="-1" strike="noStrike">
              <a:latin typeface="Arial"/>
            </a:endParaRPr>
          </a:p>
          <a:p>
            <a:pPr marL="285840" indent="-2858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Noto Sans Symbols"/>
              <a:buChar char="⮚"/>
            </a:pPr>
            <a:r>
              <a:rPr b="0" lang="en-US" sz="16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You need to save the file in PDF and upload the same on portal. No PPT, Word Doc or any other format will be supported</a:t>
            </a:r>
            <a:endParaRPr b="0" lang="en-IN" sz="1600" spc="-1" strike="noStrike">
              <a:latin typeface="Arial"/>
            </a:endParaRPr>
          </a:p>
          <a:p>
            <a:pPr marL="285840" indent="-2858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Noto Sans Symbols"/>
              <a:buChar char="⮚"/>
            </a:pPr>
            <a:r>
              <a:rPr b="0" lang="en-US" sz="16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You can delete this slide (Important Pointers) when you upload the details of your idea on SIH portal.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54" name="PlaceHolder 4"/>
          <p:cNvSpPr>
            <a:spLocks noGrp="1"/>
          </p:cNvSpPr>
          <p:nvPr>
            <p:ph type="sldNum" idx="9"/>
          </p:nvPr>
        </p:nvSpPr>
        <p:spPr>
          <a:xfrm>
            <a:off x="971640" y="6332400"/>
            <a:ext cx="522360" cy="24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1100" spc="-1" strike="noStrike">
                <a:solidFill>
                  <a:srgbClr val="000000"/>
                </a:solidFill>
                <a:latin typeface="Libre Franklin"/>
                <a:ea typeface="Libre Franklin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677717C5-7169-4F03-94F1-589EB36ED18A}" type="slidenum">
              <a:rPr b="0" lang="en-US" sz="11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&lt;number&gt;</a:t>
            </a:fld>
            <a:endParaRPr b="0" lang="en-IN" sz="11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</TotalTime>
  <Application>LibreOffice/7.3.1.3$Linux_X86_64 LibreOffice_project/30$Build-3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2022-02-11T07:14:46Z</dcterms:created>
  <dc:creator>Sarim Moin</dc:creator>
  <dc:description/>
  <dc:language>en-IN</dc:language>
  <cp:lastModifiedBy/>
  <dcterms:modified xsi:type="dcterms:W3CDTF">2022-03-28T22:41:51Z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